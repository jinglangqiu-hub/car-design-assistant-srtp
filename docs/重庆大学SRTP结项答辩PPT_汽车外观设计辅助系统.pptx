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1280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3840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0E8F5"/>
                </a:solidFill>
                <a:latin typeface="Microsoft YaHei UI"/>
              </a:rPr>
              <a:t>重庆大学 SRTP 结项答辩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813816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 UI"/>
              </a:rPr>
              <a:t>基于 StyleGAN2-ADA 的
汽车外观设计辅助系统设计与实现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63240"/>
            <a:ext cx="658368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CE2EB"/>
                </a:solidFill>
                <a:latin typeface="Microsoft YaHei UI"/>
              </a:rPr>
              <a:t>三类车型可选生成 · 云端训练 · 桌面程序 · 安装包交付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28032"/>
            <a:ext cx="4389120" cy="8229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 UI"/>
              </a:rPr>
              <a:t>项目负责人：（请填写）
指导教师：（请填写）
学院专业：（请填写）
2026 年 6 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34440"/>
            <a:ext cx="3383280" cy="420624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9344"/>
            <a:ext cx="26517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971F2D"/>
                </a:solidFill>
                <a:latin typeface="Microsoft YaHei UI"/>
              </a:rPr>
              <a:t>最终成果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12848"/>
            <a:ext cx="2578608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62D4E"/>
                </a:solidFill>
                <a:latin typeface="Microsoft YaHei UI"/>
              </a:rPr>
              <a:t>• 跑车 / 轿车 / SUV 三类生成模型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62D4E"/>
                </a:solidFill>
                <a:latin typeface="Microsoft YaHei UI"/>
              </a:rPr>
              <a:t>• Win11 桌面程序可按选择生成图片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62D4E"/>
                </a:solidFill>
                <a:latin typeface="Microsoft YaHei UI"/>
              </a:rPr>
              <a:t>• Inno Setup 分卷安装包已验证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62D4E"/>
                </a:solidFill>
                <a:latin typeface="Microsoft YaHei UI"/>
              </a:rPr>
              <a:t>• 源码与 Release 资产云端归档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立项目标落在一个可运行系统上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402336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31089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为什么做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20240"/>
            <a:ext cx="310896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汽车外观概念设计早期需要大量候选图，传统草图效率依赖经验。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生成式模型可提供快速视觉启发，适合辅助风格探索和方案讨论。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4023360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54480"/>
            <a:ext cx="31089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要完成什么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20240"/>
            <a:ext cx="310896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系统能够根据选择生成三类汽车外观图：跑车、轿车、SUV。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不仅训练模型，还要做成可运行、可安装、可展示的桌面程序。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64008" cy="40233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554480"/>
            <a:ext cx="31089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最终怎么交付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1920240"/>
            <a:ext cx="3108960" cy="3383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三类微调模型、桌面应用、分卷安装包、GitHub 仓库、Release 资产、结项报告和答辩素材。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技术路线从数据到安装包形成闭环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03704"/>
            <a:ext cx="17007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971F2D"/>
                </a:solidFill>
                <a:latin typeface="Microsoft YaHei UI"/>
              </a:rPr>
              <a:t>数据清洗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32888"/>
            <a:ext cx="1591056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80">
                <a:solidFill>
                  <a:srgbClr val="1F2937"/>
                </a:solidFill>
                <a:latin typeface="Microsoft YaHei UI"/>
              </a:rPr>
              <a:t>CompCars 图像筛选、裁剪、256×256 标准化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551176"/>
            <a:ext cx="192024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Triangle 10"/>
          <p:cNvSpPr/>
          <p:nvPr/>
        </p:nvSpPr>
        <p:spPr>
          <a:xfrm>
            <a:off x="2770632" y="2496312"/>
            <a:ext cx="118872" cy="128016"/>
          </a:xfrm>
          <a:prstGeom prst="rt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4368" y="205740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203704"/>
            <a:ext cx="17007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971F2D"/>
                </a:solidFill>
                <a:latin typeface="Microsoft YaHei UI"/>
              </a:rPr>
              <a:t>三类划分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32888"/>
            <a:ext cx="1591056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80">
                <a:solidFill>
                  <a:srgbClr val="1F2937"/>
                </a:solidFill>
                <a:latin typeface="Microsoft YaHei UI"/>
              </a:rPr>
              <a:t>基于车型属性构建 sports / sedan / suv 数据集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0328" y="2551176"/>
            <a:ext cx="192024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>
            <a:off x="5074920" y="2496312"/>
            <a:ext cx="118872" cy="128016"/>
          </a:xfrm>
          <a:prstGeom prst="rt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205740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2203704"/>
            <a:ext cx="17007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971F2D"/>
                </a:solidFill>
                <a:latin typeface="Microsoft YaHei UI"/>
              </a:rPr>
              <a:t>云端训练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532888"/>
            <a:ext cx="1591056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80">
                <a:solidFill>
                  <a:srgbClr val="1F2937"/>
                </a:solidFill>
                <a:latin typeface="Microsoft YaHei UI"/>
              </a:rPr>
              <a:t>RTX 5090 上训练 baseline 与三类微调模型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4616" y="2551176"/>
            <a:ext cx="192024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>
            <a:off x="7379208" y="2496312"/>
            <a:ext cx="118872" cy="128016"/>
          </a:xfrm>
          <a:prstGeom prst="rt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52944" y="205740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203704"/>
            <a:ext cx="17007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971F2D"/>
                </a:solidFill>
                <a:latin typeface="Microsoft YaHei UI"/>
              </a:rPr>
              <a:t>桌面集成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532888"/>
            <a:ext cx="1591056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80">
                <a:solidFill>
                  <a:srgbClr val="1F2937"/>
                </a:solidFill>
                <a:latin typeface="Microsoft YaHei UI"/>
              </a:rPr>
              <a:t>Tkinter + PyTorch 加载对应模型生成图片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18904" y="2551176"/>
            <a:ext cx="192024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>
            <a:off x="9683496" y="2496312"/>
            <a:ext cx="118872" cy="128016"/>
          </a:xfrm>
          <a:prstGeom prst="rtTriangl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57232" y="2057400"/>
            <a:ext cx="1920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203704"/>
            <a:ext cx="17007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971F2D"/>
                </a:solidFill>
                <a:latin typeface="Microsoft YaHei UI"/>
              </a:rPr>
              <a:t>打包归档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2532888"/>
            <a:ext cx="1591056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80">
                <a:solidFill>
                  <a:srgbClr val="1F2937"/>
                </a:solidFill>
                <a:latin typeface="Microsoft YaHei UI"/>
              </a:rPr>
              <a:t>PyInstaller + Inno Setup + GitHub Release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215384"/>
            <a:ext cx="179222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971F2D"/>
                </a:solidFill>
                <a:latin typeface="Microsoft YaHei UI"/>
              </a:rPr>
              <a:t>49,172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636008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清洗后通用图像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892040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256×256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4215384"/>
            <a:ext cx="179222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C4903F"/>
                </a:solidFill>
                <a:latin typeface="Microsoft YaHei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4636008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车型微调模型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4892040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sports / sedan / suv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7568" y="4215384"/>
            <a:ext cx="179222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62D4E"/>
                </a:solidFill>
                <a:latin typeface="Microsoft YaHei UI"/>
              </a:rPr>
              <a:t>RTX 5090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4636008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云端训练 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4892040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32GB 显存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0690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9288" y="4215384"/>
            <a:ext cx="179222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971F2D"/>
                </a:solidFill>
                <a:latin typeface="Microsoft YaHei UI"/>
              </a:rPr>
              <a:t>Win11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4636008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桌面安装交付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9288" y="4892040"/>
            <a:ext cx="179222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分卷安装包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三类训练数据集支撑可选车型生成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Microsoft YaHei UI"/>
              </a:rPr>
              <a:t>跑车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2"/>
            <a:ext cx="731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 UI"/>
              </a:rPr>
              <a:t>sports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600200"/>
            <a:ext cx="71323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600200"/>
            <a:ext cx="1095560" cy="31089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581912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971F2D"/>
                </a:solidFill>
                <a:latin typeface="Microsoft YaHei UI"/>
              </a:rPr>
              <a:t>1,519 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Microsoft YaHei UI"/>
              </a:rPr>
              <a:t>轿车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16352"/>
            <a:ext cx="731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 UI"/>
              </a:rPr>
              <a:t>sedan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743200"/>
            <a:ext cx="71323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743200"/>
            <a:ext cx="3961037" cy="31089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724912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4903F"/>
                </a:solidFill>
                <a:latin typeface="Microsoft YaHei UI"/>
              </a:rPr>
              <a:t>5,492 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Microsoft YaHei UI"/>
              </a:rPr>
              <a:t>SUV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59352"/>
            <a:ext cx="731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 UI"/>
              </a:rPr>
              <a:t>suv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886200"/>
            <a:ext cx="7132320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3886200"/>
            <a:ext cx="7132320" cy="310896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3867912"/>
            <a:ext cx="1097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9,889 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64608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64608"/>
            <a:ext cx="64008" cy="91440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001768"/>
            <a:ext cx="4709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类别映射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367528"/>
            <a:ext cx="47091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2/10 -&gt; SUV；4 -&gt; sedan；9/11/12 -&gt; sports；未映射类别不进入三类训练集。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864608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864608"/>
            <a:ext cx="64008" cy="9144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42519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保留策略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367528"/>
            <a:ext cx="425196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GitHub Release 上传实际使用的三类数据集，不上传原始 CompCars 全量数据。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采用三类独立微调模型，而不是临时拼接功能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18288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971F2D"/>
                </a:solidFill>
                <a:latin typeface="Microsoft YaHei UI"/>
              </a:rPr>
              <a:t>路线选择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393192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单一条件模型需要重构标签和训练流程，风险高、周期长。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三类独立微调模型能够复用已有 baseline，工程上更稳，直接满足立项要求。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50876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7830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971F2D"/>
                </a:solidFill>
                <a:latin typeface="Microsoft YaHei UI"/>
              </a:rPr>
              <a:t>跑车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240280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 UI"/>
              </a:rPr>
              <a:t>sports.pkl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651760"/>
            <a:ext cx="15087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4748B"/>
                </a:solidFill>
                <a:latin typeface="Microsoft YaHei UI"/>
              </a:rPr>
              <a:t>低矮车身、运动姿态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50876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7830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4903F"/>
                </a:solidFill>
                <a:latin typeface="Microsoft YaHei UI"/>
              </a:rPr>
              <a:t>轿车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40280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 UI"/>
              </a:rPr>
              <a:t>sedan.pkl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15087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4748B"/>
                </a:solidFill>
                <a:latin typeface="Microsoft YaHei UI"/>
              </a:rPr>
              <a:t>均衡比例、日常乘用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50876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7830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62D4E"/>
                </a:solidFill>
                <a:latin typeface="Microsoft YaHei UI"/>
              </a:rPr>
              <a:t>SUV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40280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 UI"/>
              </a:rPr>
              <a:t>suv.pkl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51760"/>
            <a:ext cx="15087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64748B"/>
                </a:solidFill>
                <a:latin typeface="Microsoft YaHei UI"/>
              </a:rPr>
              <a:t>高车身、厚重体量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51960"/>
            <a:ext cx="10058400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E7C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90288"/>
            <a:ext cx="96012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62D4E"/>
                </a:solidFill>
                <a:latin typeface="Microsoft YaHei UI"/>
              </a:rPr>
              <a:t>程序逻辑：用户选择车型 -&gt; 加载对应 pkl -&gt; 输入 seed/truncation -&gt; 生成并保存图片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云端 RTX 5090 解决了本地训练限制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834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242316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63040"/>
            <a:ext cx="2514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云端配置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28800"/>
            <a:ext cx="2514600" cy="1783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RTX 5090 32GB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Ubuntu 22.04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Python 3.12.3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PyTorch 2.7.0+cu128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CUDA Runtime 12.8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325880"/>
            <a:ext cx="2834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60" y="1325880"/>
            <a:ext cx="64008" cy="2423160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1463040"/>
            <a:ext cx="2514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验证结果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1828800"/>
            <a:ext cx="2514600" cy="1783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cuda available = True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device = NVIDIA GeForce RTX 5090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capability = (12, 0)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arch list 含 sm_120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矩阵运算测试通过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325880"/>
            <a:ext cx="40233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325880"/>
            <a:ext cx="64008" cy="24231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463040"/>
            <a:ext cx="37033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训练运行方式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1828800"/>
            <a:ext cx="3703320" cy="1783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项目迁移到 /root/autodl-tmp/car_srtp_project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无 tmux 环境下使用 nohup 后台运行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通过 nvidia-smi、pid、tail -f 日志监控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34840"/>
            <a:ext cx="9921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72584"/>
            <a:ext cx="94640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971F2D"/>
                </a:solidFill>
                <a:latin typeface="Microsoft YaHei UI"/>
              </a:rPr>
              <a:t>训练闭环：冒烟测试通过 -&gt; 第一轮训练 -&gt; 质量评估 -&gt; 追加训练 -&gt; 下载最终模型与样例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追加训练让三类结果达到展示要求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1188720" cy="4114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1887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车型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600200"/>
            <a:ext cx="2194560" cy="4114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700784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第一轮训练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2194560" cy="4114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00784"/>
            <a:ext cx="2194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追加训练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00200"/>
            <a:ext cx="3108960" cy="4114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00784"/>
            <a:ext cx="31089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最终产物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011680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97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 UI"/>
              </a:rPr>
              <a:t>跑车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011680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2148840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800 kimg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011680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148840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+1000 kimg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011680"/>
            <a:ext cx="3108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148840"/>
            <a:ext cx="3017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最终 sports.pkl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578608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715768"/>
            <a:ext cx="1097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 UI"/>
              </a:rPr>
              <a:t>轿车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578608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715768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1000 kimg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78608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715768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+1500 kimg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578608"/>
            <a:ext cx="3108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715768"/>
            <a:ext cx="3017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最终 sedan.pkl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145536"/>
            <a:ext cx="1188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282696"/>
            <a:ext cx="10972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 UI"/>
              </a:rPr>
              <a:t>SUV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145536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3282696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1000 kimg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145536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282696"/>
            <a:ext cx="2103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+1500 kimg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145536"/>
            <a:ext cx="3108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282696"/>
            <a:ext cx="3017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1F2937"/>
                </a:solidFill>
                <a:latin typeface="Microsoft YaHei UI"/>
              </a:rPr>
              <a:t>最终 suv.pkl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06908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069080"/>
            <a:ext cx="64008" cy="123444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" y="4206240"/>
            <a:ext cx="45262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为什么追加训练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4572000"/>
            <a:ext cx="45262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第一轮 fakes 已有车辆形状和类别差异，但最终展示质量不足；追加训练从第一轮最终模型继续，避免重复训练。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406908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80760" y="4069080"/>
            <a:ext cx="64008" cy="1234440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4206240"/>
            <a:ext cx="42519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最终评价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4572000"/>
            <a:ext cx="425196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每类均能筛选出 10 张以上可展示图，满足结项演示对三类生成能力的要求。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系统已能输出可展示汽车外观样例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148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260601_134750_sports_seed796724_trunc0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685032"/>
            <a:ext cx="2148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 UI"/>
              </a:rPr>
              <a:t>样例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417320"/>
            <a:ext cx="2148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260601_134824_sports_seed437112_trunc0.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08760"/>
            <a:ext cx="196596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3685032"/>
            <a:ext cx="2148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 UI"/>
              </a:rPr>
              <a:t>样例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148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214884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icrosoft YaHei UI"/>
              </a:rPr>
              <a:t>后续可补充
轿车/SUV样例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85032"/>
            <a:ext cx="2148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 UI"/>
              </a:rPr>
              <a:t>样例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17320"/>
            <a:ext cx="2148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167128"/>
            <a:ext cx="214884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icrosoft YaHei UI"/>
              </a:rPr>
              <a:t>后续可补充
轿车/SUV样例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685032"/>
            <a:ext cx="21488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 UI"/>
              </a:rPr>
              <a:t>样例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43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343400"/>
            <a:ext cx="64008" cy="114300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480560"/>
            <a:ext cx="3063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展示结论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46320"/>
            <a:ext cx="30632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三类模型输出在车身高度、轮廓比例和运动感上存在可辨别差异。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4343400"/>
            <a:ext cx="64008" cy="1143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480560"/>
            <a:ext cx="3063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参数记录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846320"/>
            <a:ext cx="306324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程序自动记录 time、car_type、seed、truncation、image_path，便于复现实验结果。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34340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343400"/>
            <a:ext cx="64008" cy="1143000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4480560"/>
            <a:ext cx="25603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4846320"/>
            <a:ext cx="256032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当前素材包已有跑车样例；答辩前建议再补 2-3 张轿车/SUV 截图。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桌面程序把模型变成可演示工具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42976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971F2D"/>
                </a:solidFill>
                <a:latin typeface="Microsoft YaHei UI"/>
              </a:rPr>
              <a:t>交互界面功能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420624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车型选择：跑车 / 轿车 / SUV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随机种子：输入或一键随机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truncation：稳定度与多样性控制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单张/批量生成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自动保存图片与 metadata.csv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Microsoft YaHei UI"/>
              </a:rPr>
              <a:t>• 打开输出目录、另存当前图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480560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37360"/>
            <a:ext cx="3840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62D4E"/>
                </a:solidFill>
                <a:latin typeface="Microsoft YaHei UI"/>
              </a:rPr>
              <a:t>后端流程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240280"/>
            <a:ext cx="3611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350008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71F2D"/>
                </a:solidFill>
                <a:latin typeface="Microsoft YaHei UI"/>
              </a:rPr>
              <a:t>选择车型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50008"/>
            <a:ext cx="2057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 UI"/>
              </a:rPr>
              <a:t>读取 sports/sedan/suv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916936"/>
            <a:ext cx="3611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026664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71F2D"/>
                </a:solidFill>
                <a:latin typeface="Microsoft YaHei UI"/>
              </a:rPr>
              <a:t>输入参数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026664"/>
            <a:ext cx="2057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 UI"/>
              </a:rPr>
              <a:t>seed + truncation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593592"/>
            <a:ext cx="3611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703320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71F2D"/>
                </a:solidFill>
                <a:latin typeface="Microsoft YaHei UI"/>
              </a:rPr>
              <a:t>模型推理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703320"/>
            <a:ext cx="2057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 UI"/>
              </a:rPr>
              <a:t>PyTorch + G_ema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4270248"/>
            <a:ext cx="36118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379976"/>
            <a:ext cx="10972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71F2D"/>
                </a:solidFill>
                <a:latin typeface="Microsoft YaHei UI"/>
              </a:rPr>
              <a:t>保存结果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379976"/>
            <a:ext cx="20574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 UI"/>
              </a:rPr>
              <a:t>PNG +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打包与云端归档让项目可以继续推进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192938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971F2D"/>
                </a:solidFill>
                <a:latin typeface="Microsoft YaHei UI"/>
              </a:rPr>
              <a:t>3.35GB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安装包总体积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改为分卷上传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173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563624"/>
            <a:ext cx="192938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C4903F"/>
                </a:solidFill>
                <a:latin typeface="Microsoft YaHei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984248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安装包文件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240280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exe + 3 个 bin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4173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563624"/>
            <a:ext cx="192938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62D4E"/>
                </a:solidFill>
                <a:latin typeface="Microsoft YaHei U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984248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Release 附件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240280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模型/数据/样例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1732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563624"/>
            <a:ext cx="1929384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971F2D"/>
                </a:solidFill>
                <a:latin typeface="Microsoft YaHei UI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984248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F2937"/>
                </a:solidFill>
                <a:latin typeface="Microsoft YaHei UI"/>
              </a:rPr>
              <a:t>源码与资产归档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240280"/>
            <a:ext cx="1929384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 UI"/>
              </a:rPr>
              <a:t>便于迁移继续开发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4612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246120"/>
            <a:ext cx="64008" cy="150876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383280"/>
            <a:ext cx="4434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安装包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749040"/>
            <a:ext cx="443484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PyInstaller 打包程序目录；Inno Setup 生成 Win11 安装程序；分卷后每个文件小于 2GB，适配 GitHub Release。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24612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3246120"/>
            <a:ext cx="64008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383280"/>
            <a:ext cx="4434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Release 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3749040"/>
            <a:ext cx="443484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上传三类模型、三类训练数据集、manifest、样例图与分卷安装包；原始数据不上传，节省云端空间。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结项要求已经被系统性满足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926080" cy="38404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9260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验收点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417320"/>
            <a:ext cx="5303520" cy="38404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08760"/>
            <a:ext cx="5303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417320"/>
            <a:ext cx="1417320" cy="38404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508760"/>
            <a:ext cx="1417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 UI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801368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1929384"/>
            <a:ext cx="281635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能否按三类选择生成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801368"/>
            <a:ext cx="53035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929384"/>
            <a:ext cx="51937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跑车 / 轿车 / SUV 三类模型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01368"/>
            <a:ext cx="14173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929384"/>
            <a:ext cx="13075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971F2D"/>
                </a:solidFill>
                <a:latin typeface="Microsoft YaHei UI"/>
              </a:rPr>
              <a:t>达成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331720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2459736"/>
            <a:ext cx="281635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是否有可运行桌面程序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2331720"/>
            <a:ext cx="53035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2459736"/>
            <a:ext cx="51937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Tkinter 桌面程序与打包版均能出图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331720"/>
            <a:ext cx="14173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2459736"/>
            <a:ext cx="13075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971F2D"/>
                </a:solidFill>
                <a:latin typeface="Microsoft YaHei UI"/>
              </a:rPr>
              <a:t>达成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862071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2990087"/>
            <a:ext cx="281635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是否能给别人安装使用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862071"/>
            <a:ext cx="53035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58184" y="2990087"/>
            <a:ext cx="51937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Inno Setup 安装后应用可正常生图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862071"/>
            <a:ext cx="14173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2990087"/>
            <a:ext cx="13075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971F2D"/>
                </a:solidFill>
                <a:latin typeface="Microsoft YaHei UI"/>
              </a:rPr>
              <a:t>达成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392423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3520439"/>
            <a:ext cx="281635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是否有生成图片样例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392423"/>
            <a:ext cx="53035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8184" y="3520439"/>
            <a:ext cx="51937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每类可筛选 10 张以上展示图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392423"/>
            <a:ext cx="14173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1704" y="3520439"/>
            <a:ext cx="13075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971F2D"/>
                </a:solidFill>
                <a:latin typeface="Microsoft YaHei UI"/>
              </a:rPr>
              <a:t>达成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22776"/>
            <a:ext cx="292608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4050792"/>
            <a:ext cx="281635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是否便于后续推进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3922776"/>
            <a:ext cx="53035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58184" y="4050792"/>
            <a:ext cx="51937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 UI"/>
              </a:rPr>
              <a:t>GitHub 源码 + Release 大资产归档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922776"/>
            <a:ext cx="14173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4050792"/>
            <a:ext cx="1307592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971F2D"/>
                </a:solidFill>
                <a:latin typeface="Microsoft YaHei UI"/>
              </a:rPr>
              <a:t>达成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当前系统可展示，但仍有明确升级方向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3200400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54480"/>
            <a:ext cx="2971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当前不足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20240"/>
            <a:ext cx="297180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分辨率为 256×256，细节不够精细。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部分随机种子仍会出现形变或局部模糊。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三类独立模型便于演示，但扩展更多类别时维护成本较高。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暂不支持文本、草图或局部编辑控制。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2918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64008" cy="3200400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54480"/>
            <a:ext cx="2971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下一步优化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20240"/>
            <a:ext cx="297180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构建 512×512 数据集并训练更高分辨率模型。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探索单模型条件生成，减少模型数量。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增加图库管理、收藏、评分、导出功能。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引入 CLIP、文本提示或草图控制。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2743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32004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54480"/>
            <a:ext cx="2423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62D4E"/>
                </a:solidFill>
                <a:latin typeface="Microsoft YaHei UI"/>
              </a:rPr>
              <a:t>项目价值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20240"/>
            <a:ext cx="242316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完成了从训练到应用的完整闭环。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证明生成式模型可用于汽车外观早期概念辅助。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Microsoft YaHei UI"/>
              </a:rPr>
              <a:t>为后续 SRTP 深化或毕业设计延展打下基础。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7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971F2D"/>
                </a:solidFill>
                <a:latin typeface="Microsoft YaHei UI"/>
              </a:rPr>
              <a:t>SRTP 结项答辩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92354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62D4E"/>
                </a:solidFill>
                <a:latin typeface="Microsoft YaHei UI"/>
              </a:rPr>
              <a:t>总结：从模型实验走到了可交付系统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384048"/>
            <a:ext cx="640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400" b="1">
                <a:solidFill>
                  <a:srgbClr val="971F2D"/>
                </a:solidFill>
                <a:latin typeface="Microsoft YaHei U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0927080" cy="13716"/>
          </a:xfrm>
          <a:prstGeom prst="rect">
            <a:avLst/>
          </a:prstGeom>
          <a:solidFill>
            <a:srgbClr val="C49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241280" cy="2926080"/>
          </a:xfrm>
          <a:prstGeom prst="round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9418320" cy="8686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 UI"/>
              </a:rPr>
              <a:t>本项目完成了汽车外观设计辅助系统的核心闭环：
数据集构建、云端训练、三类模型、桌面程序、安装包和 GitHub 归档。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8412480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E8EEF7"/>
                </a:solidFill>
                <a:latin typeface="Microsoft YaHei UI"/>
              </a:rPr>
              <a:t>• 系统已支持跑车、轿车、SUV 三类可选生成。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8EEF7"/>
                </a:solidFill>
                <a:latin typeface="Microsoft YaHei UI"/>
              </a:rPr>
              <a:t>• 安装版应用已验证可在 Win11 环境正常生图。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E8EEF7"/>
                </a:solidFill>
                <a:latin typeface="Microsoft YaHei UI"/>
              </a:rPr>
              <a:t>• 项目资料已整理为报告、PPT 素材包和云端 Release 资产。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971F2D"/>
                </a:solidFill>
                <a:latin typeface="Microsoft YaHei UI"/>
              </a:rPr>
              <a:t>谢谢各位老师，请批评指正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 UI"/>
              </a:rPr>
              <a:t>重庆大学 SRTP | 汽车外观设计辅助系统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